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art_farm_hero_17845643353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AG-EXTENSION AI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Your AI Agronomist on Demand</a:t>
            </a:r>
          </a:p>
          <a:p>
            <a:br/>
            <a:pPr>
              <a:defRPr sz="1400">
                <a:solidFill>
                  <a:srgbClr val="A7F3D0"/>
                </a:solidFill>
              </a:defRPr>
            </a:pPr>
            <a:r>
              <a:t>Giving farmers expert crop advice, instant disease scanning, and fair market prices right on their phones.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5303520" cy="7315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⚡ Seed Investment Proposal  |  NRC-IRAP R&amp;D Aligned  |  Working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Farmers Face Critical Yield &amp; Information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1 : 3,000 Deficit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ADVISOR SHORTAGE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Over 85% of smallholder farmers receive zero expert agronomy advice when crops fall sick.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25% - 30% Yield Loss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CROP DESTRUCTION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Preventable pests and plant diseases destroy up to a third of annual crop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30% Price Penalty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MARKET ASYMMETRY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Without real-time price transparency, farmers are forced to accept depressed buyer pricing.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An AI Expert in Every Farmer's Pocket</a:t>
            </a:r>
          </a:p>
        </p:txBody>
      </p:sp>
      <p:pic>
        <p:nvPicPr>
          <p:cNvPr id="5" name="Picture 4" descr="disease_scanner_17845643467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5720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77840" y="1645920"/>
            <a:ext cx="5852160" cy="109728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OmniRoute / AIHubMix Engine: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Score-sorted, quota-aware LLM router automatically fails over across models (Gemini 2.0, Claude 3.5, Llama 3.3) on rate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2834640"/>
            <a:ext cx="5852160" cy="109728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2-Second Diagnostics &amp; Instant Fallbacks: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Snap a crop photo for immediate CV diagnosis, backed by zero-latency fallback state handling to ensure 100% report uptime.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4023360"/>
            <a:ext cx="5852160" cy="109728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21+ Model Context Protocol (MCP) Tools: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Connects live telemetry from weather forecasts, satellite NDVI indices, and research databases.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5212080"/>
            <a:ext cx="5852160" cy="109728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Multi-Channel &amp; Low-Bandwidth: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Runs over WhatsApp, SMS, or voice notes — built for rural low-connectivity environments across the globe.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PRODUCT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Working Prototype Ready for Field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Functional MVP Built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CORE TECH COMPLETE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Multi-agent engine, 21+ MCP tools, instant report fallbacks, and multi-channel UI fully functional.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Pilot Partner Pipeline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CO-OP PARTNERSHIPS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In active discussions with regional agricultural co-ops for initial field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Target 90%+ Precision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MODEL CALIBRATION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Ongoing calibration against certified plant disease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15,000 Farmer Target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PILOT HORIZON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Capital deployment will scale field testing across 15,000 active farmers in year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HOW WE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Fast &amp; Low-Cost Customer Growth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Co-op Partnerships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TOP-DOWN B2B</a:t>
            </a:r>
          </a:p>
          <a:p>
            <a:br/>
            <a:pPr>
              <a:defRPr sz="1300">
                <a:solidFill>
                  <a:srgbClr val="A7F3D0"/>
                </a:solidFill>
              </a:defRPr>
            </a:pPr>
            <a:r>
              <a:t>Selling to agricultural co-ops who instantly onboard 10,000+ farmers per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Local Supply Stores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STORE KIOSKS</a:t>
            </a:r>
          </a:p>
          <a:p>
            <a:br/>
            <a:pPr>
              <a:defRPr sz="1300">
                <a:solidFill>
                  <a:srgbClr val="A7F3D0"/>
                </a:solidFill>
              </a:defRPr>
            </a:pPr>
            <a:r>
              <a:t>Agro-dealers use our diagnostic kiosks in-store to drive targeted input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WhatsApp Sharing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WORD OF MOUTH</a:t>
            </a:r>
          </a:p>
          <a:p>
            <a:br/>
            <a:pPr>
              <a:defRPr sz="1300">
                <a:solidFill>
                  <a:srgbClr val="A7F3D0"/>
                </a:solidFill>
              </a:defRPr>
            </a:pPr>
            <a:r>
              <a:t>Farmers share voice notes and disease reports in community groups, driving viral adoption.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High-Margin Software &amp; Revenue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Target Efficiency Benchmarks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LTV / CAC Return Ratio: 26.6x (Target efficiency benchmark)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Gross Profit Margin: 84% (Low AI computing cost per query)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Net Revenue Retention: 125%+ (Projected co-op tier expansion)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Payback Period: &lt; 3 Months per co-op 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Revenue Stream Breakdown (%)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1. Co-op Enterprise SaaS</a:t>
            </a:r>
          </a:p>
          <a:p>
            <a:pPr>
              <a:defRPr sz="1200">
                <a:solidFill>
                  <a:srgbClr val="A7F3D0"/>
                </a:solidFill>
              </a:defRPr>
            </a:pPr>
            <a:r>
              <a:t>75% of Total Revenue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2. Commercial Farm Plans</a:t>
            </a:r>
          </a:p>
          <a:p>
            <a:pPr>
              <a:defRPr sz="1200">
                <a:solidFill>
                  <a:srgbClr val="A7F3D0"/>
                </a:solidFill>
              </a:defRPr>
            </a:pPr>
            <a:r>
              <a:t>15% of Total Revenue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3. Data Insights API</a:t>
            </a:r>
          </a:p>
          <a:p>
            <a:pPr>
              <a:defRPr sz="1200">
                <a:solidFill>
                  <a:srgbClr val="A7F3D0"/>
                </a:solidFill>
              </a:defRPr>
            </a:pPr>
            <a:r>
              <a:t>7% of Total Revenue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4. Marketplace Transaction Fees</a:t>
            </a:r>
          </a:p>
          <a:p>
            <a:pPr>
              <a:defRPr sz="1200">
                <a:solidFill>
                  <a:srgbClr val="A7F3D0"/>
                </a:solidFill>
              </a:defRPr>
            </a:pPr>
            <a:r>
              <a:t>3% of Total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GROWTH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3-Year ARR Expansion Multipliers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Year 1 Target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1.0x Base Scale</a:t>
            </a:r>
          </a:p>
          <a:p>
            <a:br/>
            <a:pPr>
              <a:defRPr sz="1200">
                <a:solidFill>
                  <a:srgbClr val="10B981"/>
                </a:solidFill>
              </a:defRPr>
            </a:pPr>
            <a:r>
              <a:t>20 Co-ops | 15,000 Farmers</a:t>
            </a:r>
          </a:p>
          <a:p>
            <a:br/>
            <a:pPr>
              <a:defRPr sz="1200">
                <a:solidFill>
                  <a:srgbClr val="A7F3D0"/>
                </a:solidFill>
              </a:defRPr>
            </a:pPr>
            <a:r>
              <a:t>Objective:</a:t>
            </a:r>
            <a:br/>
            <a:r>
              <a:t>Establish regional pilot footprint and validate unit economics.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Year 2 Target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6.4x ARR Expansion</a:t>
            </a:r>
          </a:p>
          <a:p>
            <a:br/>
            <a:pPr>
              <a:defRPr sz="1200">
                <a:solidFill>
                  <a:srgbClr val="10B981"/>
                </a:solidFill>
              </a:defRPr>
            </a:pPr>
            <a:r>
              <a:t>110 Co-ops | 120,000 Farmers</a:t>
            </a:r>
          </a:p>
          <a:p>
            <a:br/>
            <a:pPr>
              <a:defRPr sz="1200">
                <a:solidFill>
                  <a:srgbClr val="A7F3D0"/>
                </a:solidFill>
              </a:defRPr>
            </a:pPr>
            <a:r>
              <a:t>Objective:</a:t>
            </a:r>
            <a:br/>
            <a:r>
              <a:t>Expand across 3 countries &amp; launch Data Insights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Year 3 Target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25.0x ARR Scale</a:t>
            </a:r>
          </a:p>
          <a:p>
            <a:br/>
            <a:pPr>
              <a:defRPr sz="1200">
                <a:solidFill>
                  <a:srgbClr val="10B981"/>
                </a:solidFill>
              </a:defRPr>
            </a:pPr>
            <a:r>
              <a:t>400 Co-ops | 650,000 Farmers</a:t>
            </a:r>
          </a:p>
          <a:p>
            <a:br/>
            <a:pPr>
              <a:defRPr sz="1200">
                <a:solidFill>
                  <a:srgbClr val="A7F3D0"/>
                </a:solidFill>
              </a:defRPr>
            </a:pPr>
            <a:r>
              <a:t>Objective:</a:t>
            </a:r>
            <a:br/>
            <a:r>
              <a:t>Scale nationwide and integrate with agricultural insurers.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MARKET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High-Growth AgTech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TAM Share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100% Market Base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Global Smart Agriculture &amp; Decision Support Market.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SAM Share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27% Addressable Segment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Digital Advisory Services in Emerging &amp; Developing Regions.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32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SOM Target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3.2% Initial Target Share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Targetable Co-ops and Commercial Farms in initial deployment regions.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Proven Execution &amp; Agronomy Expertise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CEO &amp; Co-Founder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Serial AgTech founder with 10+ years experience building and scaling sales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CTO &amp; Co-Founder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AI Systems Architect specializing in computer vision, multi-agent AI, and smart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Head of Agronomy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Former Director of Agricultural Extension with 15+ years leading field advice teams.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12"/>
          </a:solidFill>
          <a:ln>
            <a:solidFill>
              <a:srgbClr val="0B19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1912"/>
                </a:solidFill>
              </a:defRPr>
            </a:pPr>
            <a:r>
              <a:t>INVESTMENT &amp; NRC-IRAP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We Need Capital &amp; IRAP Innovation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Why We Need Investment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1. Scale R&amp;D &amp; Multi-Agent AI: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Transition working MVP to production-grade distributed edge AI.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2. Expand Co-op Field Pilots: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Fund on-the-ground validation with 50 agricultural co-op partners.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3. High-Skill Talent Acquisition: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Hire specialized AI systems engineers and agronomy field researchers.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2E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NRC-IRAP R&amp;D Alignment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OCAP® Indigenous Data Sovereignty: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Tiered consent microservices protecting First Nations data ownership while preserving AI diagnostic utility.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Canadian Regulatory Compliance Engine: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Automated validation against federal (Fertilizers Act) and provincial regulations.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Climate Resilience Adaptation Toolkit: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Downscaling climate models (CCCma) for Canadian agro-climatic zones (Prairie drylands, freeze-thaw cycles).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Quota Resilience &amp; Non-Dilutive R&amp;D:</a:t>
            </a:r>
          </a:p>
          <a:p>
            <a:pPr>
              <a:defRPr sz="1100">
                <a:solidFill>
                  <a:srgbClr val="A7F3D0"/>
                </a:solidFill>
              </a:defRPr>
            </a:pPr>
            <a:r>
              <a:t>OmniRoute default quota engine prevents 403 authorization failures; IRAP co-funds Canadian AI engineers &amp; Indigenous specialists.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